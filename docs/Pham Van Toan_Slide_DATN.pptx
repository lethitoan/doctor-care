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82" r:id="rId3"/>
    <p:sldId id="325" r:id="rId4"/>
    <p:sldId id="362" r:id="rId5"/>
    <p:sldId id="285" r:id="rId6"/>
    <p:sldId id="286" r:id="rId7"/>
    <p:sldId id="363" r:id="rId8"/>
    <p:sldId id="287" r:id="rId9"/>
    <p:sldId id="327" r:id="rId10"/>
    <p:sldId id="328" r:id="rId11"/>
    <p:sldId id="3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7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8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898157-852B-4C5E-8729-EF04019B2523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08B96E-DFA7-41EB-A16D-4572326A6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93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2D17A97-C503-49A5-8977-99292654C7C0}" type="slidenum">
              <a:rPr lang="en-US"/>
              <a:pPr eaLnBrk="1" hangingPunct="1"/>
              <a:t>6</a:t>
            </a:fld>
            <a:endParaRPr lang="en-US"/>
          </a:p>
        </p:txBody>
      </p:sp>
      <p:sp>
        <p:nvSpPr>
          <p:cNvPr id="6553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4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554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55D9BDF0-04B7-41C8-AAAB-5FD6344AB341}" type="slidenum">
              <a:rPr lang="en-US" sz="1200">
                <a:cs typeface="Arial" charset="0"/>
              </a:rPr>
              <a:pPr algn="r" eaLnBrk="1" hangingPunct="1"/>
              <a:t>6</a:t>
            </a:fld>
            <a:endParaRPr lang="en-US" sz="1200"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FF4BA60-2824-4ED5-A44E-E7481D0A5F5D}" type="slidenum">
              <a:rPr lang="en-US"/>
              <a:pPr eaLnBrk="1" hangingPunct="1"/>
              <a:t>8</a:t>
            </a:fld>
            <a:endParaRPr lang="en-US"/>
          </a:p>
        </p:txBody>
      </p:sp>
      <p:sp>
        <p:nvSpPr>
          <p:cNvPr id="6656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656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5AA3FD6D-ED3D-42FB-8D0A-F121D2E37109}" type="slidenum">
              <a:rPr lang="en-US" sz="1200">
                <a:cs typeface="Arial" charset="0"/>
              </a:rPr>
              <a:pPr algn="r" eaLnBrk="1" hangingPunct="1"/>
              <a:t>8</a:t>
            </a:fld>
            <a:endParaRPr lang="en-US" sz="1200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2C102-B8AE-4CC8-8DFD-907875E47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6CCF0-B4C9-4910-B71B-BC5228E90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8D5-EACC-475F-B772-4C6E30EC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793E9-AE2F-44EA-9261-CDDE0A32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453C0-1394-4470-9C6B-5680634C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6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593C6-3D1B-460E-B901-F4BB8F0E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46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431235"/>
            <a:ext cx="11100021" cy="4866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7351A-05B1-4209-ABD5-8A3B58E6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372B3-9D16-415C-AFC6-5D4652E2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96612-9E2F-40CF-99EB-6E186AFA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17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84B0-B474-49DB-90DF-EA5251578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C19F0-1FB7-4AE0-896E-2777B6C62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464CF-570F-4361-9C22-BC3CA88D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B62D1-8837-45F2-8787-A2B9AB18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02877-DE60-4015-8FCF-892ACE3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1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8C28F-0E26-4450-B5E9-87FEB7BD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39B7-197F-4E24-9034-3FAB490EB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A0A18-C706-495C-B58F-7AF0D336D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73B90-884B-4A9F-A8FA-7F1E17F9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F9F5E-BDB1-45F3-BCE2-76B6520C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4A89C-CCFA-45DE-98FF-AD7815AB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2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480A-21EF-4CFF-9025-CCD9FA4E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536" y="365125"/>
            <a:ext cx="9295852" cy="95947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E34F7-5664-4D9D-945D-F455A3DF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30B20-378D-4F09-8BF3-DEC4AF85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6BB53C-6E2D-4274-9D7E-A670158CB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7D38A-88C4-4F01-BFB9-D94E541EC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9B471D-3ADB-4293-9A4B-67CF34A7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774760-CCCB-42BA-9A1B-D8E7D8A9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3038AC-F431-4B77-9D3B-926E6AB6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8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F7B9-53C0-4585-9B89-2FBA7B70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01745-3FA6-4569-A489-EF0EA162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FEA74-BC5E-4B0B-835D-E657A873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1EE18-4D1C-4701-8BBA-0169DC7C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41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9FDDA1-6ACB-4F4D-B161-8B6F564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17F60-55C3-4BB3-BDEB-861CA825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9CA0-249C-4A75-A3B7-DBDE4463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70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949C-EB4F-4ACF-8ADE-56A8C29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26C2B-8498-44CE-B005-71433DDB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CAAFC-D17E-4850-87AB-4B0A70BF4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FB378-A528-4D34-A3DA-9AAD4037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1E530-6145-4EB0-B9A0-4C5FC5E7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77388-E30C-4DA3-B6CF-2F670642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26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4CB1-3943-4F0E-9F85-C3E76CA81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E7326-9859-4138-A3F6-5A4E1D605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11D02-CB68-43D9-85FC-185924DA2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51B13-BF22-4142-BD28-F2F7C614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97E58-C0D2-4770-BF0F-B8560F93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9F60B-0CBB-4728-801E-BBB606D2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7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D5A0-D36B-42D3-8503-A08848E9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DE344-B2E6-4D08-8EFD-71DBF3147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F3758-74C8-452E-83A6-2CC57BC5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A3BFC-EC66-4779-8648-8C5557A2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D2088-CE38-4639-9C50-5E8FE341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87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662CB-0803-47C7-B8F3-343BD6375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13163-7159-4A13-99D8-0BF55A008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37CC0-663F-45FD-AF01-CB276254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24968-DE40-4BED-BFBB-FACFDD8C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762EC-6177-4132-ACB5-5C730475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24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6C713-6B5B-4652-B919-0C9C326B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3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3E2E6-5E74-4663-AD70-D00426D6A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543" y="1447137"/>
            <a:ext cx="10789257" cy="4729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27BD6-A005-4E4E-8C32-0E1B6CC0C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50990" y="6520441"/>
            <a:ext cx="1530409" cy="3463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A6D4B-7653-4E0B-8F57-D38CF83377BB}" type="datetimeFigureOut">
              <a:rPr lang="en-US" smtClean="0"/>
              <a:pPr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D051F-F1D7-4D05-9D06-0B2E7BC10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8987"/>
            <a:ext cx="41148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1EC13-E05F-4BCF-8EC0-B2CDC6777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28987"/>
            <a:ext cx="27432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B023F-0D85-424A-AD30-ACA2241933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2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/>
          <p:cNvSpPr>
            <a:spLocks noChangeArrowheads="1"/>
          </p:cNvSpPr>
          <p:nvPr/>
        </p:nvSpPr>
        <p:spPr bwMode="auto">
          <a:xfrm>
            <a:off x="846082" y="2100406"/>
            <a:ext cx="1049983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vi-VN" sz="4000" b="1" dirty="0"/>
              <a:t>BUILDING AN ONLINE MEDICAL APPOINTMENT BOOKING WEBSITE WITH INTEGRATED AI CHATBOT</a:t>
            </a:r>
            <a:endParaRPr lang="vi-VN" sz="4000" dirty="0"/>
          </a:p>
        </p:txBody>
      </p:sp>
      <p:pic>
        <p:nvPicPr>
          <p:cNvPr id="5" name="Picture 6" descr="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42400" y="5200650"/>
            <a:ext cx="3149600" cy="1657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56091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0822E74-51B4-019E-D23C-D9107B21AD1B}"/>
              </a:ext>
            </a:extLst>
          </p:cNvPr>
          <p:cNvSpPr txBox="1"/>
          <p:nvPr/>
        </p:nvSpPr>
        <p:spPr>
          <a:xfrm>
            <a:off x="4411132" y="2142067"/>
            <a:ext cx="76369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 err="1"/>
              <a:t>Student</a:t>
            </a:r>
            <a:r>
              <a:rPr lang="vi-VN" dirty="0"/>
              <a:t> </a:t>
            </a:r>
            <a:r>
              <a:rPr lang="vi-VN" dirty="0" err="1"/>
              <a:t>Code</a:t>
            </a:r>
            <a:r>
              <a:rPr lang="vi-VN" dirty="0"/>
              <a:t> :                                     21IT112</a:t>
            </a:r>
          </a:p>
          <a:p>
            <a:endParaRPr lang="vi-VN" dirty="0"/>
          </a:p>
          <a:p>
            <a:r>
              <a:rPr lang="vi-VN" dirty="0" err="1"/>
              <a:t>Class</a:t>
            </a:r>
            <a:r>
              <a:rPr lang="vi-VN" dirty="0"/>
              <a:t>              :                                     21SE4</a:t>
            </a:r>
          </a:p>
          <a:p>
            <a:endParaRPr lang="vi-VN" dirty="0"/>
          </a:p>
          <a:p>
            <a:r>
              <a:rPr lang="vi-VN" dirty="0" err="1"/>
              <a:t>Suppervisor</a:t>
            </a:r>
            <a:r>
              <a:rPr lang="vi-VN" dirty="0"/>
              <a:t>    :                                     </a:t>
            </a:r>
            <a:r>
              <a:rPr lang="vi-VN" dirty="0" err="1"/>
              <a:t>Dr</a:t>
            </a:r>
            <a:r>
              <a:rPr lang="vi-VN" dirty="0"/>
              <a:t>. PHAM NGUYEN MINH NHUT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34C889-50CF-AB0A-5F6D-E5C70BDFCB3B}"/>
              </a:ext>
            </a:extLst>
          </p:cNvPr>
          <p:cNvSpPr txBox="1"/>
          <p:nvPr/>
        </p:nvSpPr>
        <p:spPr>
          <a:xfrm>
            <a:off x="1413934" y="4379423"/>
            <a:ext cx="2167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 err="1"/>
              <a:t>Pham</a:t>
            </a:r>
            <a:r>
              <a:rPr lang="vi-VN" dirty="0"/>
              <a:t> Van Toan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6E2D5EE-D45D-5D8C-7715-DD57E628E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708" y="1915341"/>
            <a:ext cx="1631504" cy="2322321"/>
          </a:xfrm>
          <a:prstGeom prst="ellipse">
            <a:avLst/>
          </a:prstGeom>
          <a:ln w="63500" cap="rnd">
            <a:solidFill>
              <a:schemeClr val="bg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">
            <a:extLst>
              <a:ext uri="{FF2B5EF4-FFF2-40B4-BE49-F238E27FC236}">
                <a16:creationId xmlns:a16="http://schemas.microsoft.com/office/drawing/2014/main" id="{FFCC2825-5061-A9CC-FDA2-C7953D73D72A}"/>
              </a:ext>
            </a:extLst>
          </p:cNvPr>
          <p:cNvSpPr txBox="1"/>
          <p:nvPr/>
        </p:nvSpPr>
        <p:spPr>
          <a:xfrm>
            <a:off x="5168537" y="759823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/>
          </a:p>
          <a:p>
            <a:pPr algn="ctr">
              <a:defRPr sz="4400" b="1">
                <a:solidFill>
                  <a:srgbClr val="0066CC"/>
                </a:solidFill>
              </a:defRPr>
            </a:pPr>
            <a:r>
              <a:rPr dirty="0"/>
              <a:t>PROFILE</a:t>
            </a:r>
          </a:p>
        </p:txBody>
      </p:sp>
    </p:spTree>
    <p:extLst>
      <p:ext uri="{BB962C8B-B14F-4D97-AF65-F5344CB8AC3E}">
        <p14:creationId xmlns:p14="http://schemas.microsoft.com/office/powerpoint/2010/main" val="3712030764"/>
      </p:ext>
    </p:extLst>
  </p:cSld>
  <p:clrMapOvr>
    <a:masterClrMapping/>
  </p:clrMapOvr>
  <p:transition>
    <p:cover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B2F9A562-0B3F-F64E-F760-C900B45F847A}"/>
              </a:ext>
            </a:extLst>
          </p:cNvPr>
          <p:cNvSpPr txBox="1"/>
          <p:nvPr/>
        </p:nvSpPr>
        <p:spPr>
          <a:xfrm>
            <a:off x="2786743" y="1940450"/>
            <a:ext cx="6096000" cy="3212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400" b="1" dirty="0"/>
          </a:p>
          <a:p>
            <a:pPr marL="355600" indent="-355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2400" b="1" dirty="0"/>
          </a:p>
          <a:p>
            <a:pPr marL="355600" indent="-355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ANALYSIS AND DESIGN</a:t>
            </a:r>
            <a:endParaRPr lang="en-US" sz="2400" b="1" dirty="0"/>
          </a:p>
          <a:p>
            <a:pPr marL="355600" indent="-355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AND TOOLS</a:t>
            </a:r>
            <a:endParaRPr lang="en-US" sz="2400" b="1" dirty="0"/>
          </a:p>
          <a:p>
            <a:pPr marL="355600" indent="-355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AND FUTURE DEVELOPMENT</a:t>
            </a:r>
            <a:endParaRPr lang="en-US" sz="2400" b="1" dirty="0"/>
          </a:p>
        </p:txBody>
      </p:sp>
      <p:sp>
        <p:nvSpPr>
          <p:cNvPr id="51" name="Shape 1">
            <a:extLst>
              <a:ext uri="{FF2B5EF4-FFF2-40B4-BE49-F238E27FC236}">
                <a16:creationId xmlns:a16="http://schemas.microsoft.com/office/drawing/2014/main" id="{05B27F55-EE5B-E932-A54F-706321BCEC57}"/>
              </a:ext>
            </a:extLst>
          </p:cNvPr>
          <p:cNvSpPr/>
          <p:nvPr/>
        </p:nvSpPr>
        <p:spPr>
          <a:xfrm>
            <a:off x="2031426" y="1331540"/>
            <a:ext cx="8808415" cy="0"/>
          </a:xfrm>
          <a:prstGeom prst="line">
            <a:avLst/>
          </a:prstGeom>
          <a:noFill/>
          <a:ln w="381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29376B9-DDDB-3E5F-C7C8-72126A4DD5DA}"/>
              </a:ext>
            </a:extLst>
          </p:cNvPr>
          <p:cNvSpPr txBox="1"/>
          <p:nvPr/>
        </p:nvSpPr>
        <p:spPr>
          <a:xfrm>
            <a:off x="5068388" y="666499"/>
            <a:ext cx="548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CONTENT</a:t>
            </a:r>
            <a:endParaRPr lang="vi-VN" sz="3200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50229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F73817-5AA7-A22B-E29B-A6B8986516BB}"/>
              </a:ext>
            </a:extLst>
          </p:cNvPr>
          <p:cNvSpPr txBox="1"/>
          <p:nvPr/>
        </p:nvSpPr>
        <p:spPr>
          <a:xfrm>
            <a:off x="2760617" y="658060"/>
            <a:ext cx="609600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0"/>
              </a:spcAft>
            </a:pPr>
            <a:r>
              <a:rPr lang="en-US" sz="30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3000" dirty="0"/>
          </a:p>
          <a:p>
            <a:pPr algn="ctr">
              <a:spcAft>
                <a:spcPts val="3000"/>
              </a:spcAft>
              <a:buNone/>
            </a:pPr>
            <a:endParaRPr lang="vi-VN" sz="3000" b="1" i="0" dirty="0">
              <a:solidFill>
                <a:srgbClr val="764BA2"/>
              </a:solidFill>
              <a:effectLst/>
              <a:latin typeface="Segoe UI" panose="020B0502040204020203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2486FF-716C-9C1D-EDC1-B074EEB9A4E7}"/>
              </a:ext>
            </a:extLst>
          </p:cNvPr>
          <p:cNvCxnSpPr/>
          <p:nvPr/>
        </p:nvCxnSpPr>
        <p:spPr>
          <a:xfrm>
            <a:off x="2151017" y="1375954"/>
            <a:ext cx="8055429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C633321-BCBB-BC95-E3F3-8559E3518DF8}"/>
              </a:ext>
            </a:extLst>
          </p:cNvPr>
          <p:cNvSpPr txBox="1"/>
          <p:nvPr/>
        </p:nvSpPr>
        <p:spPr>
          <a:xfrm>
            <a:off x="1619794" y="1849070"/>
            <a:ext cx="6879772" cy="26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indent="-304800">
              <a:lnSpc>
                <a:spcPts val="23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digital era, online medical appointment booking has become essential, especially after the COVID-19 pandemic.</a:t>
            </a:r>
            <a:endParaRPr lang="en-US" dirty="0"/>
          </a:p>
          <a:p>
            <a:pPr marL="304800" indent="-304800">
              <a:lnSpc>
                <a:spcPts val="23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appointment booking systems have many limitations: manual, time-consuming, and difficult to manage.</a:t>
            </a:r>
            <a:endParaRPr lang="en-US" dirty="0"/>
          </a:p>
          <a:p>
            <a:pPr marL="304800" indent="-304800">
              <a:lnSpc>
                <a:spcPts val="2300"/>
              </a:lnSpc>
              <a:spcAft>
                <a:spcPts val="600"/>
              </a:spcAft>
              <a:buSzPct val="100000"/>
              <a:buChar char="•"/>
            </a:pPr>
            <a:r>
              <a:rPr lang="en-US" dirty="0" err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MedBooking</a:t>
            </a:r>
            <a:r>
              <a:rPr lang="en-US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digitizes the booking workflow, saving time for both patients and doctors and improving user experience.</a:t>
            </a:r>
            <a:endParaRPr lang="en-US" dirty="0"/>
          </a:p>
          <a:p>
            <a:pPr marL="304800" indent="-304800">
              <a:lnSpc>
                <a:spcPts val="2300"/>
              </a:lnSpc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integrates an AI Assistant to recommend suitable specialties based on patient symptoms.</a:t>
            </a:r>
            <a:endParaRPr lang="en-US" dirty="0"/>
          </a:p>
        </p:txBody>
      </p:sp>
      <p:pic>
        <p:nvPicPr>
          <p:cNvPr id="2050" name="Picture 2" descr="MedBooking Logo">
            <a:extLst>
              <a:ext uri="{FF2B5EF4-FFF2-40B4-BE49-F238E27FC236}">
                <a16:creationId xmlns:a16="http://schemas.microsoft.com/office/drawing/2014/main" id="{D6EE0DFD-64D2-F08D-5B4D-6AC903AB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9566" y="1689463"/>
            <a:ext cx="3326673" cy="3792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5223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8F82B4B6-9C09-410F-8D00-A33DD1EC54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675" y="1356501"/>
            <a:ext cx="8261838" cy="56974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2230AE-021D-DEBF-1C07-085BB6535D04}"/>
              </a:ext>
            </a:extLst>
          </p:cNvPr>
          <p:cNvSpPr txBox="1"/>
          <p:nvPr/>
        </p:nvSpPr>
        <p:spPr>
          <a:xfrm>
            <a:off x="2960914" y="450950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ASSISTANT</a:t>
            </a:r>
            <a:endParaRPr lang="en-US" sz="3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603836-3A8A-44DD-3BF8-9F5C0D0ECCE1}"/>
              </a:ext>
            </a:extLst>
          </p:cNvPr>
          <p:cNvCxnSpPr/>
          <p:nvPr/>
        </p:nvCxnSpPr>
        <p:spPr>
          <a:xfrm>
            <a:off x="2124891" y="1105989"/>
            <a:ext cx="84734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B1E4A0F-D0BE-E0CB-C426-B14EA80C32A5}"/>
              </a:ext>
            </a:extLst>
          </p:cNvPr>
          <p:cNvSpPr txBox="1"/>
          <p:nvPr/>
        </p:nvSpPr>
        <p:spPr>
          <a:xfrm>
            <a:off x="1924594" y="1629127"/>
            <a:ext cx="6096000" cy="3203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0200" indent="-330200">
              <a:lnSpc>
                <a:spcPts val="24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intelligent AI Assistant powered by the Google Gemini API</a:t>
            </a:r>
            <a:endParaRPr lang="en-US" sz="1800" dirty="0"/>
          </a:p>
          <a:p>
            <a:pPr marL="330200" indent="-330200">
              <a:lnSpc>
                <a:spcPts val="24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Recommends appropriate specialties based on patient symptoms</a:t>
            </a:r>
            <a:endParaRPr lang="en-US" sz="1800" dirty="0"/>
          </a:p>
          <a:p>
            <a:pPr marL="330200" indent="-330200">
              <a:lnSpc>
                <a:spcPts val="24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Guides users on how to use the </a:t>
            </a:r>
            <a:r>
              <a:rPr lang="en-US" sz="1800" dirty="0" err="1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MedBooking</a:t>
            </a: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system</a:t>
            </a:r>
            <a:endParaRPr lang="en-US" sz="1800" dirty="0"/>
          </a:p>
          <a:p>
            <a:pPr marL="330200" indent="-330200">
              <a:lnSpc>
                <a:spcPts val="24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questions about healthcare services and contact information</a:t>
            </a:r>
            <a:endParaRPr lang="en-US" sz="1800" dirty="0"/>
          </a:p>
          <a:p>
            <a:pPr marL="330200" indent="-330200">
              <a:lnSpc>
                <a:spcPts val="2400"/>
              </a:lnSpc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not diagnose diseases; only suggests which specialty to visit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2774593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54768E7-1906-D1C0-7E85-5F44AEDCCE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049" y="2401128"/>
            <a:ext cx="8243751" cy="5495834"/>
          </a:xfrm>
          <a:prstGeom prst="rect">
            <a:avLst/>
          </a:prstGeom>
        </p:spPr>
      </p:pic>
      <p:sp>
        <p:nvSpPr>
          <p:cNvPr id="18" name="Title 1"/>
          <p:cNvSpPr>
            <a:spLocks/>
          </p:cNvSpPr>
          <p:nvPr/>
        </p:nvSpPr>
        <p:spPr bwMode="auto">
          <a:xfrm>
            <a:off x="2087221" y="427382"/>
            <a:ext cx="9600583" cy="735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4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ANALYSIS AND DESIGN</a:t>
            </a:r>
            <a:endParaRPr lang="en-US" sz="2400" dirty="0"/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1E5F6C01-7B30-8CB2-EE52-305F429F9D7E}"/>
              </a:ext>
            </a:extLst>
          </p:cNvPr>
          <p:cNvSpPr/>
          <p:nvPr/>
        </p:nvSpPr>
        <p:spPr>
          <a:xfrm>
            <a:off x="2087221" y="1087701"/>
            <a:ext cx="8808415" cy="0"/>
          </a:xfrm>
          <a:prstGeom prst="line">
            <a:avLst/>
          </a:prstGeom>
          <a:noFill/>
          <a:ln w="381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0A224E-8247-996C-5DC0-EC8DFE423DAF}"/>
              </a:ext>
            </a:extLst>
          </p:cNvPr>
          <p:cNvSpPr txBox="1"/>
          <p:nvPr/>
        </p:nvSpPr>
        <p:spPr>
          <a:xfrm>
            <a:off x="1721460" y="1748021"/>
            <a:ext cx="7753465" cy="2363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indent="-3048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architecture: Frontend (Next.js) + Backend (Express.js) + Database (MySQL)</a:t>
            </a:r>
            <a:endParaRPr lang="en-US" sz="1800" dirty="0"/>
          </a:p>
          <a:p>
            <a:pPr marL="304800" indent="-3048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Booking flow: Choose specialty → Select doctor → Enter details → Pick date/time → Confirm</a:t>
            </a:r>
            <a:endParaRPr lang="en-US" sz="1800" dirty="0"/>
          </a:p>
          <a:p>
            <a:pPr marL="304800" indent="-3048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roles: Patient, Doctor, Administrator</a:t>
            </a:r>
            <a:endParaRPr lang="en-US" sz="1800" dirty="0"/>
          </a:p>
          <a:p>
            <a:pPr marL="304800" indent="-3048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chat between patients and doctors using Socket.io</a:t>
            </a:r>
            <a:endParaRPr lang="en-US" sz="1800" dirty="0"/>
          </a:p>
          <a:p>
            <a:pPr marL="304800" indent="-3048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appointment confirmation emails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6764733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085B79-D9A4-FBCD-D501-58542A458127}"/>
              </a:ext>
            </a:extLst>
          </p:cNvPr>
          <p:cNvSpPr txBox="1"/>
          <p:nvPr/>
        </p:nvSpPr>
        <p:spPr>
          <a:xfrm>
            <a:off x="3178628" y="540386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AND TOOLS</a:t>
            </a:r>
            <a:endParaRPr lang="en-US" sz="30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FA39DAA2-975C-5F37-AE6E-6D7131754F16}"/>
              </a:ext>
            </a:extLst>
          </p:cNvPr>
          <p:cNvSpPr/>
          <p:nvPr/>
        </p:nvSpPr>
        <p:spPr>
          <a:xfrm>
            <a:off x="2135778" y="1174786"/>
            <a:ext cx="8808415" cy="0"/>
          </a:xfrm>
          <a:prstGeom prst="line">
            <a:avLst/>
          </a:prstGeom>
          <a:noFill/>
          <a:ln w="381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1B9BFB5-26FA-77F1-6E6B-33DF3D55E79D}"/>
              </a:ext>
            </a:extLst>
          </p:cNvPr>
          <p:cNvSpPr/>
          <p:nvPr/>
        </p:nvSpPr>
        <p:spPr>
          <a:xfrm>
            <a:off x="585651" y="1508760"/>
            <a:ext cx="345429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31750" dist="190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E4EC489-EEAB-D8C8-2414-1E27D2F8E68D}"/>
              </a:ext>
            </a:extLst>
          </p:cNvPr>
          <p:cNvSpPr/>
          <p:nvPr/>
        </p:nvSpPr>
        <p:spPr>
          <a:xfrm>
            <a:off x="722811" y="1691640"/>
            <a:ext cx="3179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14</a:t>
            </a:r>
            <a:endParaRPr lang="en-US" sz="2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AAE9AEA-C131-5C12-1D15-C144BFBAD4B8}"/>
              </a:ext>
            </a:extLst>
          </p:cNvPr>
          <p:cNvSpPr/>
          <p:nvPr/>
        </p:nvSpPr>
        <p:spPr>
          <a:xfrm>
            <a:off x="722811" y="2167128"/>
            <a:ext cx="31799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Framework</a:t>
            </a:r>
            <a:endParaRPr lang="en-US" sz="14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CF935A7-3937-36B5-502C-F0B88961E9D4}"/>
              </a:ext>
            </a:extLst>
          </p:cNvPr>
          <p:cNvSpPr/>
          <p:nvPr/>
        </p:nvSpPr>
        <p:spPr>
          <a:xfrm>
            <a:off x="4368698" y="1508760"/>
            <a:ext cx="345429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31750" dist="190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BB643A4-D0A8-D407-701C-6085DBFDCD14}"/>
              </a:ext>
            </a:extLst>
          </p:cNvPr>
          <p:cNvSpPr/>
          <p:nvPr/>
        </p:nvSpPr>
        <p:spPr>
          <a:xfrm>
            <a:off x="4505858" y="1691640"/>
            <a:ext cx="3179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Express.js</a:t>
            </a:r>
            <a:endParaRPr lang="en-US" sz="2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88E15F7-DF6E-84A2-DED3-688C64BA0F10}"/>
              </a:ext>
            </a:extLst>
          </p:cNvPr>
          <p:cNvSpPr/>
          <p:nvPr/>
        </p:nvSpPr>
        <p:spPr>
          <a:xfrm>
            <a:off x="4505858" y="2167128"/>
            <a:ext cx="31799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399644F9-80EE-1D2B-CC32-7A617F1DEE62}"/>
              </a:ext>
            </a:extLst>
          </p:cNvPr>
          <p:cNvSpPr/>
          <p:nvPr/>
        </p:nvSpPr>
        <p:spPr>
          <a:xfrm>
            <a:off x="8143037" y="1508760"/>
            <a:ext cx="345429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31750" dist="190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1FC38C7-5C7F-3DBE-FFBA-91FCAFCCF527}"/>
              </a:ext>
            </a:extLst>
          </p:cNvPr>
          <p:cNvSpPr/>
          <p:nvPr/>
        </p:nvSpPr>
        <p:spPr>
          <a:xfrm>
            <a:off x="8280197" y="1691640"/>
            <a:ext cx="3179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</a:t>
            </a:r>
            <a:endParaRPr lang="en-US" sz="20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2F72D10-07DA-6DB9-20A6-E8B77D75D3A3}"/>
              </a:ext>
            </a:extLst>
          </p:cNvPr>
          <p:cNvSpPr/>
          <p:nvPr/>
        </p:nvSpPr>
        <p:spPr>
          <a:xfrm>
            <a:off x="8280197" y="2167128"/>
            <a:ext cx="31799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D28D64A6-F716-CC72-6C0D-CC575B82C661}"/>
              </a:ext>
            </a:extLst>
          </p:cNvPr>
          <p:cNvSpPr/>
          <p:nvPr/>
        </p:nvSpPr>
        <p:spPr>
          <a:xfrm>
            <a:off x="594360" y="3200400"/>
            <a:ext cx="345429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31750" dist="190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09F69FA-BD69-3736-767A-13697CAB3190}"/>
              </a:ext>
            </a:extLst>
          </p:cNvPr>
          <p:cNvSpPr/>
          <p:nvPr/>
        </p:nvSpPr>
        <p:spPr>
          <a:xfrm>
            <a:off x="731520" y="3383280"/>
            <a:ext cx="3179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</a:t>
            </a:r>
            <a:endParaRPr lang="en-US" sz="20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2977866-8557-A9D8-2D6C-C2A81C4DEF3C}"/>
              </a:ext>
            </a:extLst>
          </p:cNvPr>
          <p:cNvSpPr/>
          <p:nvPr/>
        </p:nvSpPr>
        <p:spPr>
          <a:xfrm>
            <a:off x="731520" y="3858768"/>
            <a:ext cx="31799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Safety</a:t>
            </a:r>
            <a:endParaRPr lang="en-US" sz="14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4CF982EB-211C-8E3F-F160-DE44C4311885}"/>
              </a:ext>
            </a:extLst>
          </p:cNvPr>
          <p:cNvSpPr/>
          <p:nvPr/>
        </p:nvSpPr>
        <p:spPr>
          <a:xfrm>
            <a:off x="4368698" y="3200400"/>
            <a:ext cx="345429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31750" dist="190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262A539-6DF2-F699-59D0-15B07BE8A017}"/>
              </a:ext>
            </a:extLst>
          </p:cNvPr>
          <p:cNvSpPr/>
          <p:nvPr/>
        </p:nvSpPr>
        <p:spPr>
          <a:xfrm>
            <a:off x="4505858" y="3383280"/>
            <a:ext cx="3179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Socket.io</a:t>
            </a:r>
            <a:endParaRPr lang="en-US" sz="20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F2D300F-0A01-5680-6610-105CA362CBB7}"/>
              </a:ext>
            </a:extLst>
          </p:cNvPr>
          <p:cNvSpPr/>
          <p:nvPr/>
        </p:nvSpPr>
        <p:spPr>
          <a:xfrm>
            <a:off x="4505858" y="3858768"/>
            <a:ext cx="31799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Chat</a:t>
            </a:r>
            <a:endParaRPr lang="en-US" sz="14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F4BE316C-CA20-6F03-DBCD-E98B25F79E16}"/>
              </a:ext>
            </a:extLst>
          </p:cNvPr>
          <p:cNvSpPr/>
          <p:nvPr/>
        </p:nvSpPr>
        <p:spPr>
          <a:xfrm>
            <a:off x="8143037" y="3200400"/>
            <a:ext cx="345429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31750" dist="190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D27AD651-86B0-FD10-9624-342D20C2E3ED}"/>
              </a:ext>
            </a:extLst>
          </p:cNvPr>
          <p:cNvSpPr/>
          <p:nvPr/>
        </p:nvSpPr>
        <p:spPr>
          <a:xfrm>
            <a:off x="8280197" y="3383280"/>
            <a:ext cx="3179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API</a:t>
            </a:r>
            <a:endParaRPr lang="en-US" sz="20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F2A99122-57EC-DB92-B231-71D8891261E8}"/>
              </a:ext>
            </a:extLst>
          </p:cNvPr>
          <p:cNvSpPr/>
          <p:nvPr/>
        </p:nvSpPr>
        <p:spPr>
          <a:xfrm>
            <a:off x="8280197" y="3858768"/>
            <a:ext cx="31799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Assistant</a:t>
            </a:r>
            <a:endParaRPr lang="en-US" sz="14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89C96B26-0237-B3A9-4B3F-FA12893DED89}"/>
              </a:ext>
            </a:extLst>
          </p:cNvPr>
          <p:cNvSpPr/>
          <p:nvPr/>
        </p:nvSpPr>
        <p:spPr>
          <a:xfrm>
            <a:off x="594360" y="4892040"/>
            <a:ext cx="345429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31750" dist="190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C9E84095-54AA-4DED-8A6F-C781BB2C0FA6}"/>
              </a:ext>
            </a:extLst>
          </p:cNvPr>
          <p:cNvSpPr/>
          <p:nvPr/>
        </p:nvSpPr>
        <p:spPr>
          <a:xfrm>
            <a:off x="731520" y="5074920"/>
            <a:ext cx="3179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</a:t>
            </a:r>
            <a:endParaRPr lang="en-US" sz="20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FC5820FC-7C77-76B7-6CAE-61D942DA725C}"/>
              </a:ext>
            </a:extLst>
          </p:cNvPr>
          <p:cNvSpPr/>
          <p:nvPr/>
        </p:nvSpPr>
        <p:spPr>
          <a:xfrm>
            <a:off x="731520" y="5550408"/>
            <a:ext cx="31799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C19591C7-A99B-B9B5-F04B-680ED3A45637}"/>
              </a:ext>
            </a:extLst>
          </p:cNvPr>
          <p:cNvSpPr/>
          <p:nvPr/>
        </p:nvSpPr>
        <p:spPr>
          <a:xfrm>
            <a:off x="4368698" y="4892040"/>
            <a:ext cx="345429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31750" dist="190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9D256331-6A40-19D4-B836-64E2505223F7}"/>
              </a:ext>
            </a:extLst>
          </p:cNvPr>
          <p:cNvSpPr/>
          <p:nvPr/>
        </p:nvSpPr>
        <p:spPr>
          <a:xfrm>
            <a:off x="4505858" y="5074920"/>
            <a:ext cx="3179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</a:t>
            </a:r>
            <a:endParaRPr lang="en-US" sz="20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BA25A877-4893-11B0-6A7E-78127479A20C}"/>
              </a:ext>
            </a:extLst>
          </p:cNvPr>
          <p:cNvSpPr/>
          <p:nvPr/>
        </p:nvSpPr>
        <p:spPr>
          <a:xfrm>
            <a:off x="4505858" y="5550408"/>
            <a:ext cx="31799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Styling</a:t>
            </a:r>
            <a:endParaRPr lang="en-US" sz="140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E9AECF4B-8A68-0C56-D99D-D138C2E4D210}"/>
              </a:ext>
            </a:extLst>
          </p:cNvPr>
          <p:cNvSpPr/>
          <p:nvPr/>
        </p:nvSpPr>
        <p:spPr>
          <a:xfrm>
            <a:off x="8143037" y="4892040"/>
            <a:ext cx="345429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31750" dist="190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DD3EA409-A3A7-1BD6-C05E-1494B1259B64}"/>
              </a:ext>
            </a:extLst>
          </p:cNvPr>
          <p:cNvSpPr/>
          <p:nvPr/>
        </p:nvSpPr>
        <p:spPr>
          <a:xfrm>
            <a:off x="8280197" y="5074920"/>
            <a:ext cx="3179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Nodemailer</a:t>
            </a:r>
            <a:endParaRPr lang="en-US" sz="20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B7A1D791-EB7E-0786-5422-61D7EBEB584F}"/>
              </a:ext>
            </a:extLst>
          </p:cNvPr>
          <p:cNvSpPr/>
          <p:nvPr/>
        </p:nvSpPr>
        <p:spPr>
          <a:xfrm>
            <a:off x="8280197" y="5550408"/>
            <a:ext cx="31799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Service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89045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EFBB6120-B731-2CF9-811F-9B563AC4897A}"/>
              </a:ext>
            </a:extLst>
          </p:cNvPr>
          <p:cNvSpPr/>
          <p:nvPr/>
        </p:nvSpPr>
        <p:spPr>
          <a:xfrm>
            <a:off x="594360" y="457200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E-HEALTH</a:t>
            </a:r>
            <a:endParaRPr lang="en-US" sz="30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279DD1DF-654A-EADC-045D-97DD84A05660}"/>
              </a:ext>
            </a:extLst>
          </p:cNvPr>
          <p:cNvSpPr/>
          <p:nvPr/>
        </p:nvSpPr>
        <p:spPr>
          <a:xfrm>
            <a:off x="1691640" y="1078992"/>
            <a:ext cx="8808415" cy="0"/>
          </a:xfrm>
          <a:prstGeom prst="line">
            <a:avLst/>
          </a:prstGeom>
          <a:noFill/>
          <a:ln w="381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7AED9AFB-DB4A-E3F1-86A4-ED25D132832C}"/>
              </a:ext>
            </a:extLst>
          </p:cNvPr>
          <p:cNvSpPr/>
          <p:nvPr/>
        </p:nvSpPr>
        <p:spPr>
          <a:xfrm>
            <a:off x="1508760" y="1828800"/>
            <a:ext cx="9174175" cy="347472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ADA0D3C7-848B-210A-28C3-E6F9F6144585}"/>
              </a:ext>
            </a:extLst>
          </p:cNvPr>
          <p:cNvSpPr/>
          <p:nvPr/>
        </p:nvSpPr>
        <p:spPr>
          <a:xfrm>
            <a:off x="1508760" y="1828800"/>
            <a:ext cx="82296" cy="34747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EA3BA79-3FF3-FBB9-0ADE-50A3AC84645F}"/>
              </a:ext>
            </a:extLst>
          </p:cNvPr>
          <p:cNvSpPr/>
          <p:nvPr/>
        </p:nvSpPr>
        <p:spPr>
          <a:xfrm>
            <a:off x="1737360" y="2148840"/>
            <a:ext cx="8716975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E-Health is the application of information and communication technologies in healthcare.</a:t>
            </a:r>
            <a:endParaRPr lang="en-US" sz="1800" dirty="0"/>
          </a:p>
          <a:p>
            <a:pPr marL="0" indent="0">
              <a:lnSpc>
                <a:spcPts val="2800"/>
              </a:lnSpc>
              <a:buNone/>
            </a:pPr>
            <a:endParaRPr lang="en-US" sz="18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a modern approach that connects patients with healthcare services conveniently, quickly, and effectively.</a:t>
            </a:r>
            <a:endParaRPr lang="en-US" sz="1800" dirty="0"/>
          </a:p>
          <a:p>
            <a:pPr marL="0" indent="0">
              <a:lnSpc>
                <a:spcPts val="2800"/>
              </a:lnSpc>
              <a:buNone/>
            </a:pPr>
            <a:endParaRPr lang="en-US" sz="18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particularly important for appointment management, reducing the burden on healthcare facilities, and improving user experience.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0469753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B88A842-C899-FF77-AEA8-D935DC6A69DF}"/>
              </a:ext>
            </a:extLst>
          </p:cNvPr>
          <p:cNvSpPr/>
          <p:nvPr/>
        </p:nvSpPr>
        <p:spPr>
          <a:xfrm>
            <a:off x="594360" y="457200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AND FUTURE DEVELOPMENT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746A1FE-A96A-DC4D-A4AD-901ADBD6B2E8}"/>
              </a:ext>
            </a:extLst>
          </p:cNvPr>
          <p:cNvSpPr/>
          <p:nvPr/>
        </p:nvSpPr>
        <p:spPr>
          <a:xfrm>
            <a:off x="2196737" y="1096410"/>
            <a:ext cx="8808415" cy="0"/>
          </a:xfrm>
          <a:prstGeom prst="line">
            <a:avLst/>
          </a:prstGeom>
          <a:noFill/>
          <a:ln w="381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81D32BD0-628D-A8B6-65CE-7085DAB6370A}"/>
              </a:ext>
            </a:extLst>
          </p:cNvPr>
          <p:cNvSpPr/>
          <p:nvPr/>
        </p:nvSpPr>
        <p:spPr>
          <a:xfrm>
            <a:off x="1104314" y="1281029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Achievements</a:t>
            </a:r>
            <a:endParaRPr lang="en-US" sz="2200" dirty="0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5B65D9FF-5E25-433B-79A1-37BC9A54EF07}"/>
              </a:ext>
            </a:extLst>
          </p:cNvPr>
          <p:cNvSpPr/>
          <p:nvPr/>
        </p:nvSpPr>
        <p:spPr>
          <a:xfrm>
            <a:off x="1287194" y="1738229"/>
            <a:ext cx="10637215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Visually appealing, user-friendly interface</a:t>
            </a:r>
            <a:endParaRPr lang="en-US" sz="1600" dirty="0"/>
          </a:p>
          <a:p>
            <a:pPr marL="279400" indent="-279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Easy system information management</a:t>
            </a:r>
            <a:endParaRPr lang="en-US" sz="1600" dirty="0"/>
          </a:p>
          <a:p>
            <a:pPr marL="279400" indent="-279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and convenient online appointment booking</a:t>
            </a:r>
            <a:endParaRPr lang="en-US" sz="1600" dirty="0"/>
          </a:p>
          <a:p>
            <a:pPr marL="279400" indent="-279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AI-based specialty recommendations</a:t>
            </a:r>
            <a:endParaRPr lang="en-US" sz="1600" dirty="0"/>
          </a:p>
          <a:p>
            <a:pPr marL="279400" indent="-279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doctor–patient chat</a:t>
            </a:r>
            <a:endParaRPr lang="en-US" sz="1600" dirty="0"/>
          </a:p>
          <a:p>
            <a:pPr marL="279400" indent="-279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Efficient appointment management for doctors and admins</a:t>
            </a:r>
            <a:endParaRPr lang="en-US" sz="160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811B4975-76D0-28DF-BCFD-ED7656C7E90A}"/>
              </a:ext>
            </a:extLst>
          </p:cNvPr>
          <p:cNvSpPr/>
          <p:nvPr/>
        </p:nvSpPr>
        <p:spPr>
          <a:xfrm>
            <a:off x="1104314" y="4021602"/>
            <a:ext cx="110029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Development</a:t>
            </a:r>
            <a:endParaRPr lang="en-US" sz="2200" dirty="0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9953B591-D13A-4E92-D4D8-D35FC6B6B8FE}"/>
              </a:ext>
            </a:extLst>
          </p:cNvPr>
          <p:cNvSpPr/>
          <p:nvPr/>
        </p:nvSpPr>
        <p:spPr>
          <a:xfrm>
            <a:off x="1287194" y="4478802"/>
            <a:ext cx="10637215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online payments</a:t>
            </a:r>
            <a:endParaRPr lang="en-US" sz="1600" dirty="0"/>
          </a:p>
          <a:p>
            <a:pPr marL="279400" indent="-279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remote video consultations</a:t>
            </a:r>
            <a:endParaRPr lang="en-US" sz="1600" dirty="0"/>
          </a:p>
          <a:p>
            <a:pPr marL="279400" indent="-279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 the AI Assistant with machine learning</a:t>
            </a:r>
            <a:endParaRPr lang="en-US" sz="1600" dirty="0"/>
          </a:p>
          <a:p>
            <a:pPr marL="279400" indent="-279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 (iOS, Android)</a:t>
            </a:r>
            <a:endParaRPr lang="en-US" sz="1600" dirty="0"/>
          </a:p>
          <a:p>
            <a:pPr marL="279400" indent="-279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with Hospital Information Systems (HIS)</a:t>
            </a:r>
            <a:endParaRPr lang="en-US" sz="1600" dirty="0"/>
          </a:p>
          <a:p>
            <a:pPr marL="279400" indent="-2794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analytics and reporting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2017052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9768DDB-7DAE-0D75-26BB-277425648C2D}"/>
              </a:ext>
            </a:extLst>
          </p:cNvPr>
          <p:cNvSpPr txBox="1"/>
          <p:nvPr/>
        </p:nvSpPr>
        <p:spPr>
          <a:xfrm>
            <a:off x="2969602" y="2505781"/>
            <a:ext cx="60974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endParaRPr lang="en-US" sz="40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F7A68751-08C2-90F6-D390-618F22D2F540}"/>
              </a:ext>
            </a:extLst>
          </p:cNvPr>
          <p:cNvSpPr/>
          <p:nvPr/>
        </p:nvSpPr>
        <p:spPr>
          <a:xfrm>
            <a:off x="594512" y="3305908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MedBooking System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8157484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E5D4F-330D-99A6-7DD7-42F333086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7A074C-EB97-4602-5021-F3C9A4D6D150}"/>
              </a:ext>
            </a:extLst>
          </p:cNvPr>
          <p:cNvSpPr/>
          <p:nvPr/>
        </p:nvSpPr>
        <p:spPr>
          <a:xfrm>
            <a:off x="594360" y="2240280"/>
            <a:ext cx="110029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F4E7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F3889B-3993-6ECF-35FE-F9D8EA4FEB2E}"/>
              </a:ext>
            </a:extLst>
          </p:cNvPr>
          <p:cNvSpPr/>
          <p:nvPr/>
        </p:nvSpPr>
        <p:spPr>
          <a:xfrm>
            <a:off x="594360" y="342900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for your attention!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1590854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10742</TotalTime>
  <Words>399</Words>
  <Application>Microsoft Office PowerPoint</Application>
  <PresentationFormat>Widescreen</PresentationFormat>
  <Paragraphs>80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Toan Le</dc:creator>
  <cp:lastModifiedBy>Toản Phạm Văn</cp:lastModifiedBy>
  <cp:revision>159</cp:revision>
  <dcterms:created xsi:type="dcterms:W3CDTF">2020-05-27T05:21:30Z</dcterms:created>
  <dcterms:modified xsi:type="dcterms:W3CDTF">2025-12-24T15:43:51Z</dcterms:modified>
</cp:coreProperties>
</file>